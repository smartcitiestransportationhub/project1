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无防御：被发现前受控电量</c:v>
                </c:pt>
              </c:strCache>
            </c:strRef>
          </c:tx>
          <c:spPr>
            <a:solidFill>
              <a:srgbClr val="E8384F"/>
            </a:solidFill>
            <a:ln w="38100" cap="flat">
              <a:solidFill>
                <a:srgbClr val="E8384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384F"/>
              </a:solidFill>
              <a:ln w="9525" cap="flat">
                <a:solidFill>
                  <a:srgbClr val="E8384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3928</c:v>
                </c:pt>
                <c:pt idx="1">
                  <c:v>6044</c:v>
                </c:pt>
                <c:pt idx="2">
                  <c:v>8159</c:v>
                </c:pt>
                <c:pt idx="3">
                  <c:v>10683</c:v>
                </c:pt>
                <c:pt idx="4">
                  <c:v>11889</c:v>
                </c:pt>
                <c:pt idx="5">
                  <c:v>12216</c:v>
                </c:pt>
                <c:pt idx="6">
                  <c:v>12963</c:v>
                </c:pt>
                <c:pt idx="7">
                  <c:v>13705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检测+隔离：被发现前受控电量</c:v>
                </c:pt>
              </c:strCache>
            </c:strRef>
          </c:tx>
          <c:spPr>
            <a:solidFill>
              <a:srgbClr val="1EA97C"/>
            </a:solidFill>
            <a:ln w="38100" cap="flat">
              <a:solidFill>
                <a:srgbClr val="1EA97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EA97C"/>
              </a:solidFill>
              <a:ln w="9525" cap="flat">
                <a:solidFill>
                  <a:srgbClr val="1EA97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6.6</c:v>
                </c:pt>
                <c:pt idx="1">
                  <c:v>11.2</c:v>
                </c:pt>
                <c:pt idx="2">
                  <c:v>20.9</c:v>
                </c:pt>
                <c:pt idx="3">
                  <c:v>23.6</c:v>
                </c:pt>
                <c:pt idx="4">
                  <c:v>26.5</c:v>
                </c:pt>
                <c:pt idx="5">
                  <c:v>28</c:v>
                </c:pt>
                <c:pt idx="6">
                  <c:v>31.5</c:v>
                </c:pt>
                <c:pt idx="7">
                  <c:v>33.7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D6B7A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5D6B7A"/>
                    </a:solidFill>
                    <a:latin typeface="+mn-lt"/>
                  </a:rPr>
                  <a:t>同时攻破的后台数 k（按功率从大到小）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D6B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BF1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D6B7A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5D6B7A"/>
                    </a:solidFill>
                    <a:latin typeface="+mn-lt"/>
                  </a:rPr>
                  <a:t>受控电量（度/kWh）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D6B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A26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开场：一句话——我在研究充电桩会不会被黑客通过网络远程操纵，用的是巴塞罗那一整座城市的真实数据，全程只在仿真里做。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这张图就是全文逻辑：问题→关键洞察(碎片化)→怎么研究(一家标定、全城推演)→主要发现→一句话结论。后面逐张展开。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用大白话解释后台(CSMS)和OCPP：运营商远程控制桩的通道。攻破后台=操纵这家所有桩。右边示意图：黑客→后台→一串桩。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关键洞察：城市不是一张网，是几十个互不相通的后台。攻一家波及不到别家。地图上每种颜色是一家运营商。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方法：一家标定(真数据真协议) + 全城推演(621桩连成39个后台)。强调全程仿真、不碰真实系统。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结果1：攻破最大一家只占全城17%、对电网0.16%。地图对比：覆盖面(Endesa 18城镇)和集中度(BSM 3城镇)不一样。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结果2：协同攻破累加，但接近全城需很多次独立攻破(难)；红线飙升、绿线贴地——逐家隔离一直把损失压到几十度。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结果3：光检测没用，必须隔离。检测到就隔离那家后台，约1分钟把损失降99%以上；良性回放零误报。图是攻防四帧：扩散→最大→隔离(变绿)。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额外要点1：测谎器区分真停电vs黑客造假。要点2：就算全城被控也只占电网0.16%，远低于9-11%出事阈值——所以电网不是主战场。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价值：填空白/现实指导/可移植/可视化。一句话收尾：电网不是主战场，网络层才是；碎片化+检测隔离让攻击几乎无损。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巴塞罗那充电网络 · 网络层攻防仿真（面向非专业读者）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3D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96012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13506F"/>
          </a:solidFill>
          <a:ln w="12700">
            <a:solidFill>
              <a:srgbClr val="2E86A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9601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真实数据 · 全程仿真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73736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充电桩会被黑客“远程操纵”吗？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41248" y="3200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CFE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用巴塞罗那一座城市的真实数据，做一次“网络层”攻防推演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3886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CA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电动汽车充电网络安全  ·  只在隔离仿真中进行，不接触任何真实系统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4983480"/>
            <a:ext cx="2468880" cy="1143000"/>
          </a:xfrm>
          <a:prstGeom prst="roundRect">
            <a:avLst>
              <a:gd name="adj" fmla="val 8000"/>
            </a:avLst>
          </a:prstGeom>
          <a:solidFill>
            <a:srgbClr val="12405B"/>
          </a:solidFill>
          <a:ln w="12700">
            <a:solidFill>
              <a:srgbClr val="24617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510235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AD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37+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7424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家充电运营商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566160" y="4983480"/>
            <a:ext cx="2468880" cy="1143000"/>
          </a:xfrm>
          <a:prstGeom prst="roundRect">
            <a:avLst>
              <a:gd name="adj" fmla="val 8000"/>
            </a:avLst>
          </a:prstGeom>
          <a:solidFill>
            <a:srgbClr val="12405B"/>
          </a:solidFill>
          <a:ln w="12700">
            <a:solidFill>
              <a:srgbClr val="24617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66160" y="510235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AD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621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57424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个充电点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09360" y="4983480"/>
            <a:ext cx="2468880" cy="1143000"/>
          </a:xfrm>
          <a:prstGeom prst="roundRect">
            <a:avLst>
              <a:gd name="adj" fmla="val 8000"/>
            </a:avLst>
          </a:prstGeom>
          <a:solidFill>
            <a:srgbClr val="12405B"/>
          </a:solidFill>
          <a:ln w="12700">
            <a:solidFill>
              <a:srgbClr val="24617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09360" y="510235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AD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整年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57424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真实充电记录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52560" y="4983480"/>
            <a:ext cx="2468880" cy="1143000"/>
          </a:xfrm>
          <a:prstGeom prst="roundRect">
            <a:avLst>
              <a:gd name="adj" fmla="val 8000"/>
            </a:avLst>
          </a:prstGeom>
          <a:solidFill>
            <a:srgbClr val="12405B"/>
          </a:solidFill>
          <a:ln w="12700">
            <a:solidFill>
              <a:srgbClr val="24617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052560" y="510235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AD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9052560" y="57424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个独立后台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6459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一页看懂全局</a:t>
            </a:r>
            <a:endParaRPr lang="en-US" sz="1200" dirty="0"/>
          </a:p>
        </p:txBody>
      </p:sp>
      <p:pic>
        <p:nvPicPr>
          <p:cNvPr id="3" name="Image 0" descr="/home/user/Project1/figs/figLOGIC_framewo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658368"/>
            <a:ext cx="10058400" cy="586837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6459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918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3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充电桩是怎么被“远程控制”的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51206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每一根充电桩，都通过网络连着运营商的“后台”。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运营商靠这条通道远程给桩下命令：调功率、远程停充、读电表。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这条通道用的协议叫 OCPP。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E8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一旦黑客攻破这个后台——就能同时操纵这家公司的所有桩。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5074920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FDECEC"/>
          </a:solidFill>
          <a:ln w="12700">
            <a:solidFill>
              <a:srgbClr val="F3B5B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507492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33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关键点：攻破 1 个后台 = 操纵这家的全部桩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498080" y="1600200"/>
            <a:ext cx="1463040" cy="548640"/>
          </a:xfrm>
          <a:prstGeom prst="roundRect">
            <a:avLst>
              <a:gd name="adj" fmla="val 13333"/>
            </a:avLst>
          </a:prstGeom>
          <a:solidFill>
            <a:srgbClr val="E8384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0" y="16002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黑客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132320" y="2743200"/>
            <a:ext cx="2194560" cy="685800"/>
          </a:xfrm>
          <a:prstGeom prst="roundRect">
            <a:avLst>
              <a:gd name="adj" fmla="val 10667"/>
            </a:avLst>
          </a:prstGeom>
          <a:solidFill>
            <a:srgbClr val="8B4DD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132320" y="27432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运营商后台 CSMS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0" y="2148840"/>
            <a:ext cx="0" cy="594360"/>
          </a:xfrm>
          <a:prstGeom prst="line">
            <a:avLst/>
          </a:prstGeom>
          <a:noFill/>
          <a:ln w="31750">
            <a:solidFill>
              <a:srgbClr val="E8384F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229600" y="3429000"/>
            <a:ext cx="-1325880" cy="1234440"/>
          </a:xfrm>
          <a:prstGeom prst="line">
            <a:avLst/>
          </a:prstGeom>
          <a:noFill/>
          <a:ln w="16510">
            <a:solidFill>
              <a:srgbClr val="F2A3A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0" y="3429000"/>
            <a:ext cx="-411480" cy="1234440"/>
          </a:xfrm>
          <a:prstGeom prst="line">
            <a:avLst/>
          </a:prstGeom>
          <a:noFill/>
          <a:ln w="16510">
            <a:solidFill>
              <a:srgbClr val="F2A3A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0" y="3429000"/>
            <a:ext cx="502920" cy="1234440"/>
          </a:xfrm>
          <a:prstGeom prst="line">
            <a:avLst/>
          </a:prstGeom>
          <a:noFill/>
          <a:ln w="16510">
            <a:solidFill>
              <a:srgbClr val="F2A3A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3429000"/>
            <a:ext cx="1417320" cy="1234440"/>
          </a:xfrm>
          <a:prstGeom prst="line">
            <a:avLst/>
          </a:prstGeom>
          <a:noFill/>
          <a:ln w="16510">
            <a:solidFill>
              <a:srgbClr val="F2A3A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0" y="3429000"/>
            <a:ext cx="2331720" cy="1234440"/>
          </a:xfrm>
          <a:prstGeom prst="line">
            <a:avLst/>
          </a:prstGeom>
          <a:noFill/>
          <a:ln w="16510">
            <a:solidFill>
              <a:srgbClr val="F2A3A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0" y="3429000"/>
            <a:ext cx="3246120" cy="1234440"/>
          </a:xfrm>
          <a:prstGeom prst="line">
            <a:avLst/>
          </a:prstGeom>
          <a:noFill/>
          <a:ln w="16510">
            <a:solidFill>
              <a:srgbClr val="F2A3A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4663440"/>
            <a:ext cx="457200" cy="640080"/>
          </a:xfrm>
          <a:prstGeom prst="roundRect">
            <a:avLst>
              <a:gd name="adj" fmla="val 12000"/>
            </a:avLst>
          </a:prstGeom>
          <a:solidFill>
            <a:srgbClr val="1AA3C4"/>
          </a:solidFill>
          <a:ln w="12700">
            <a:solidFill>
              <a:srgbClr val="117A9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60920" y="4663440"/>
            <a:ext cx="457200" cy="640080"/>
          </a:xfrm>
          <a:prstGeom prst="roundRect">
            <a:avLst>
              <a:gd name="adj" fmla="val 12000"/>
            </a:avLst>
          </a:prstGeom>
          <a:solidFill>
            <a:srgbClr val="1AA3C4"/>
          </a:solidFill>
          <a:ln w="12700">
            <a:solidFill>
              <a:srgbClr val="117A9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75320" y="4663440"/>
            <a:ext cx="457200" cy="640080"/>
          </a:xfrm>
          <a:prstGeom prst="roundRect">
            <a:avLst>
              <a:gd name="adj" fmla="val 12000"/>
            </a:avLst>
          </a:prstGeom>
          <a:solidFill>
            <a:srgbClr val="1AA3C4"/>
          </a:solidFill>
          <a:ln w="12700">
            <a:solidFill>
              <a:srgbClr val="117A9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89720" y="4663440"/>
            <a:ext cx="457200" cy="640080"/>
          </a:xfrm>
          <a:prstGeom prst="roundRect">
            <a:avLst>
              <a:gd name="adj" fmla="val 12000"/>
            </a:avLst>
          </a:prstGeom>
          <a:solidFill>
            <a:srgbClr val="1AA3C4"/>
          </a:solidFill>
          <a:ln w="12700">
            <a:solidFill>
              <a:srgbClr val="117A9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04120" y="4663440"/>
            <a:ext cx="457200" cy="640080"/>
          </a:xfrm>
          <a:prstGeom prst="roundRect">
            <a:avLst>
              <a:gd name="adj" fmla="val 12000"/>
            </a:avLst>
          </a:prstGeom>
          <a:solidFill>
            <a:srgbClr val="1AA3C4"/>
          </a:solidFill>
          <a:ln w="12700">
            <a:solidFill>
              <a:srgbClr val="117A9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018520" y="4663440"/>
            <a:ext cx="457200" cy="640080"/>
          </a:xfrm>
          <a:prstGeom prst="roundRect">
            <a:avLst>
              <a:gd name="adj" fmla="val 12000"/>
            </a:avLst>
          </a:prstGeom>
          <a:solidFill>
            <a:srgbClr val="1AA3C4"/>
          </a:solidFill>
          <a:ln w="12700">
            <a:solidFill>
              <a:srgbClr val="117A9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217920" y="54406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这家公司的充电桩（全部被控）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6459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关键洞察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918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3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一座城市不是“一张网”</a:t>
            </a:r>
            <a:endParaRPr lang="en-US" sz="3000" dirty="0"/>
          </a:p>
        </p:txBody>
      </p:sp>
      <p:pic>
        <p:nvPicPr>
          <p:cNvPr id="4" name="Image 0" descr="/home/user/Project1/figs/figC1_city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1234440"/>
            <a:ext cx="5943600" cy="49406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1645920"/>
            <a:ext cx="48463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全城是 37+ 家互相独立的后台拼成的。</a:t>
            </a:r>
            <a:endParaRPr lang="en-US" sz="165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我把这叫“控制平面碎片化”。</a:t>
            </a:r>
            <a:endParaRPr lang="en-US" sz="165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攻破一家后台，横向只能波及这一家的桩——到不了别家。</a:t>
            </a:r>
            <a:endParaRPr lang="en-US" sz="165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650" b="1" dirty="0">
                <a:solidFill>
                  <a:srgbClr val="1EA9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这天然限制了一次入侵能造成的“爆炸半径”。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640080" y="4892040"/>
            <a:ext cx="4846320" cy="13716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25400" dir="5400000">
              <a:srgbClr val="B9C6D4">
                <a:alpha val="35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40080" y="49834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F3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</a:t>
            </a:r>
            <a:endParaRPr lang="en-US" sz="46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578815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D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个互相独立的后台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3108960" y="49834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EA9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碎片化</a:t>
            </a:r>
            <a:endParaRPr lang="en-US" sz="4600" dirty="0"/>
          </a:p>
        </p:txBody>
      </p:sp>
      <p:sp>
        <p:nvSpPr>
          <p:cNvPr id="10" name="Text 7"/>
          <p:cNvSpPr txBox="1"/>
          <p:nvPr/>
        </p:nvSpPr>
        <p:spPr>
          <a:xfrm>
            <a:off x="3108960" y="578815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D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天然的安全隔舱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6459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4D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怎么研究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918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3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一家真实标定，全城推演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394960" cy="3657600"/>
          </a:xfrm>
          <a:prstGeom prst="roundRect">
            <a:avLst>
              <a:gd name="adj" fmla="val 2250"/>
            </a:avLst>
          </a:prstGeom>
          <a:solidFill>
            <a:srgbClr val="EEF6FB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25400" dir="5400000">
              <a:srgbClr val="B9C6D4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783080"/>
            <a:ext cx="1920240" cy="457200"/>
          </a:xfrm>
          <a:prstGeom prst="roundRect">
            <a:avLst>
              <a:gd name="adj" fmla="val 40000"/>
            </a:avLst>
          </a:prstGeom>
          <a:solidFill>
            <a:srgbClr val="1AA3C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7830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微观 · 先摸透一家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423160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只有 AMB 一家有一整年真实充电记录。</a:t>
            </a:r>
            <a:endParaRPr lang="en-US" sz="150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搭了一个“货真价实”的模拟器：真用 OCPP 协议、按真实充电记录运行。</a:t>
            </a:r>
            <a:endParaRPr lang="en-US" sz="150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扮演黑客攻破后台，测出“攻破 → 检测 → 隔离”的全过程。</a:t>
            </a:r>
            <a:endParaRPr lang="en-US" sz="150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还顺便测了：多快能发现、会不会误报。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72200" y="1554480"/>
            <a:ext cx="5394960" cy="3657600"/>
          </a:xfrm>
          <a:prstGeom prst="roundRect">
            <a:avLst>
              <a:gd name="adj" fmla="val 2250"/>
            </a:avLst>
          </a:prstGeom>
          <a:solidFill>
            <a:srgbClr val="F1EEFB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25400" dir="5400000">
              <a:srgbClr val="B9C6D4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0" y="1783080"/>
            <a:ext cx="2103120" cy="457200"/>
          </a:xfrm>
          <a:prstGeom prst="roundRect">
            <a:avLst>
              <a:gd name="adj" fmla="val 40000"/>
            </a:avLst>
          </a:prstGeom>
          <a:solidFill>
            <a:srgbClr val="8B4DD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0" y="1783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宏观 · 再放大全城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2423160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把全城 621 个充电点真的连成 39 个独立后台。</a:t>
            </a:r>
            <a:endParaRPr lang="en-US" sz="150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用这家测出的规律，按每家规模推广到全城。</a:t>
            </a:r>
            <a:endParaRPr lang="en-US" sz="150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做三组实验：攻破一家 / 协同攻破多家 / 各种攻击×各种防御。</a:t>
            </a:r>
            <a:endParaRPr lang="en-US" sz="150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得到可在真实地图上逐时回放的全城结论。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5440680"/>
            <a:ext cx="10927080" cy="731520"/>
          </a:xfrm>
          <a:prstGeom prst="roundRect">
            <a:avLst>
              <a:gd name="adj" fmla="val 10000"/>
            </a:avLst>
          </a:prstGeom>
          <a:solidFill>
            <a:srgbClr val="E9F6EF"/>
          </a:solidFill>
          <a:ln w="12700">
            <a:solidFill>
              <a:srgbClr val="A8D9C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5440680"/>
            <a:ext cx="10927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C7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全程只在隔离仿真里完成，不接触任何真实运营商后台或充电桩。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6459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实验结果 ①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918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3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攻破一家后台，能波及多大</a:t>
            </a:r>
            <a:endParaRPr lang="en-US" sz="3000" dirty="0"/>
          </a:p>
        </p:txBody>
      </p:sp>
      <p:pic>
        <p:nvPicPr>
          <p:cNvPr id="4" name="Image 0" descr="/home/user/Project1/figs/figC2_blast_sing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7680960" cy="442196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595360" y="16916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838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17%</a:t>
            </a:r>
            <a:endParaRPr lang="en-US" sz="4600" dirty="0"/>
          </a:p>
        </p:txBody>
      </p:sp>
      <p:sp>
        <p:nvSpPr>
          <p:cNvPr id="6" name="Text 3"/>
          <p:cNvSpPr txBox="1"/>
          <p:nvPr/>
        </p:nvSpPr>
        <p:spPr>
          <a:xfrm>
            <a:off x="8595360" y="249631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D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攻破最大一家 = 全城充电功率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8595360" y="32461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F3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0.16%</a:t>
            </a:r>
            <a:endParaRPr lang="en-US" sz="4600" dirty="0"/>
          </a:p>
        </p:txBody>
      </p:sp>
      <p:sp>
        <p:nvSpPr>
          <p:cNvPr id="8" name="Text 5"/>
          <p:cNvSpPr txBox="1"/>
          <p:nvPr/>
        </p:nvSpPr>
        <p:spPr>
          <a:xfrm>
            <a:off x="8595360" y="405079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D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换算到电网，仅占峰值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595360" y="4709160"/>
            <a:ext cx="3017520" cy="1371600"/>
          </a:xfrm>
          <a:prstGeom prst="roundRect">
            <a:avLst>
              <a:gd name="adj" fmla="val 5333"/>
            </a:avLst>
          </a:prstGeom>
          <a:solidFill>
            <a:srgbClr val="F4F7FB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732520" y="4800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两家功率相近，覆盖面却差很多：Endesa 波及 18 个城镇，BSM 只在市中心 3 个城镇。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6459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8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实验结果 ②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918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3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同时攻破好几家呢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463040"/>
          <a:ext cx="722376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092440" y="1691640"/>
            <a:ext cx="3520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要接近全城，得同时攻破很多家后台——</a:t>
            </a:r>
            <a:endParaRPr lang="en-US" sz="1450" dirty="0"/>
          </a:p>
          <a:p>
            <a:pPr algn="l" marL="342900" indent="-3429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而且是“相互独立”的多次攻破，一次搞不定。</a:t>
            </a:r>
            <a:endParaRPr lang="en-US" sz="1450" dirty="0"/>
          </a:p>
          <a:p>
            <a:pPr algn="l" marL="342900" indent="-3429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红线一路飙升，绿线始终贴着地面——</a:t>
            </a:r>
            <a:endParaRPr lang="en-US" sz="1450" dirty="0"/>
          </a:p>
          <a:p>
            <a:pPr algn="l" marL="342900" indent="-342900">
              <a:spcAft>
                <a:spcPts val="1100"/>
              </a:spcAft>
              <a:buSzPct val="100000"/>
              <a:buChar char="•"/>
            </a:pPr>
            <a:r>
              <a:rPr lang="en-US" sz="1450" b="1" dirty="0">
                <a:solidFill>
                  <a:srgbClr val="1EA9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只要逐家“检测+隔离”，损失一直压在几十度。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8092440" y="5029200"/>
            <a:ext cx="3520440" cy="1097280"/>
          </a:xfrm>
          <a:prstGeom prst="roundRect">
            <a:avLst>
              <a:gd name="adj" fmla="val 7500"/>
            </a:avLst>
          </a:prstGeom>
          <a:solidFill>
            <a:srgbClr val="F4F7FB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25400" dir="5400000">
              <a:srgbClr val="B9C6D4">
                <a:alpha val="35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229600" y="502920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D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协同攻破前 5 家（44.9 MW）
</a:t>
            </a:r>
            <a:pPr algn="l" indent="0" marL="0">
              <a:buNone/>
            </a:pPr>
            <a:r>
              <a:rPr lang="en-US" sz="1500" b="1" dirty="0">
                <a:solidFill>
                  <a:srgbClr val="E8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11889 度 → 隔离后仅 26.5 度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6459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A9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实验结果 ③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918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3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检测到就隔离：约 1 分钟止损</a:t>
            </a:r>
            <a:endParaRPr lang="en-US" sz="3000" dirty="0"/>
          </a:p>
        </p:txBody>
      </p:sp>
      <p:pic>
        <p:nvPicPr>
          <p:cNvPr id="4" name="Image 0" descr="/home/user/Project1/figs/figC5_story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11064240" cy="360751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5257800"/>
            <a:ext cx="3383280" cy="1051560"/>
          </a:xfrm>
          <a:prstGeom prst="roundRect">
            <a:avLst>
              <a:gd name="adj" fmla="val 7826"/>
            </a:avLst>
          </a:prstGeom>
          <a:solidFill>
            <a:srgbClr val="F4F7FB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25400" dir="5400000">
              <a:srgbClr val="B9C6D4">
                <a:alpha val="3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" y="5321808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A9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99%+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58978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D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损失削减幅度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72000" y="5257800"/>
            <a:ext cx="3383280" cy="1051560"/>
          </a:xfrm>
          <a:prstGeom prst="roundRect">
            <a:avLst>
              <a:gd name="adj" fmla="val 7826"/>
            </a:avLst>
          </a:prstGeom>
          <a:solidFill>
            <a:srgbClr val="F4F7FB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25400" dir="5400000">
              <a:srgbClr val="B9C6D4">
                <a:alpha val="35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4572000" y="5321808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A3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≈1 分钟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4572000" y="58978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D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发现并隔离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321040" y="5257800"/>
            <a:ext cx="3383280" cy="1051560"/>
          </a:xfrm>
          <a:prstGeom prst="roundRect">
            <a:avLst>
              <a:gd name="adj" fmla="val 7826"/>
            </a:avLst>
          </a:prstGeom>
          <a:solidFill>
            <a:srgbClr val="F4F7FB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25400" dir="5400000">
              <a:srgbClr val="B9C6D4">
                <a:alpha val="35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8321040" y="5321808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3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8321040" y="58978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D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良性回放误报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6459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两个额外要点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918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3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会“测谎”，也看清了对电网的影响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394960" cy="4480560"/>
          </a:xfrm>
          <a:prstGeom prst="roundRect">
            <a:avLst>
              <a:gd name="adj" fmla="val 1837"/>
            </a:avLst>
          </a:prstGeom>
          <a:solidFill>
            <a:srgbClr val="EEF6FB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25400" dir="5400000">
              <a:srgbClr val="B9C6D4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783080"/>
            <a:ext cx="2377440" cy="457200"/>
          </a:xfrm>
          <a:prstGeom prst="roundRect">
            <a:avLst>
              <a:gd name="adj" fmla="val 40000"/>
            </a:avLst>
          </a:prstGeom>
          <a:solidFill>
            <a:srgbClr val="1AA3C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783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一个靠谱的“测谎器”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423160"/>
            <a:ext cx="49377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用“规模×节律”判断什么才算异常。</a:t>
            </a:r>
            <a:endParaRPr lang="en-US" sz="15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年 4 月西班牙大停电：全网一起降 → 判为真实事件，不误报。</a:t>
            </a:r>
            <a:endParaRPr lang="en-US" sz="15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黑客在单个站点伪造电表：只有一处异常 → 报警。</a:t>
            </a:r>
            <a:endParaRPr lang="en-US" sz="15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0E7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关键：它不会把真实大停电错当成攻击。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72200" y="1554480"/>
            <a:ext cx="5394960" cy="4480560"/>
          </a:xfrm>
          <a:prstGeom prst="roundRect">
            <a:avLst>
              <a:gd name="adj" fmla="val 1837"/>
            </a:avLst>
          </a:prstGeom>
          <a:solidFill>
            <a:srgbClr val="F4F7FB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25400" dir="5400000">
              <a:srgbClr val="B9C6D4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0" y="1783080"/>
            <a:ext cx="2377440" cy="457200"/>
          </a:xfrm>
          <a:prstGeom prst="roundRect">
            <a:avLst>
              <a:gd name="adj" fmla="val 40000"/>
            </a:avLst>
          </a:prstGeom>
          <a:solidFill>
            <a:srgbClr val="0F3D5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0" y="1783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对电网只是“毛毛雨”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237744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就算全城充电都被控制，也只占电网峰值的 0.16%，远低于会让电网出事的 9–11%。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92240" y="4343400"/>
            <a:ext cx="4663440" cy="237744"/>
          </a:xfrm>
          <a:prstGeom prst="rect">
            <a:avLst/>
          </a:prstGeom>
          <a:solidFill>
            <a:srgbClr val="E3EAF1"/>
          </a:solidFill>
          <a:ln/>
        </p:spPr>
      </p:sp>
      <p:sp>
        <p:nvSpPr>
          <p:cNvPr id="13" name="Shape 11"/>
          <p:cNvSpPr/>
          <p:nvPr/>
        </p:nvSpPr>
        <p:spPr>
          <a:xfrm>
            <a:off x="9989820" y="4343400"/>
            <a:ext cx="777240" cy="237744"/>
          </a:xfrm>
          <a:prstGeom prst="rect">
            <a:avLst/>
          </a:prstGeom>
          <a:solidFill>
            <a:srgbClr val="F0C28A"/>
          </a:solidFill>
          <a:ln/>
        </p:spPr>
      </p:sp>
      <p:sp>
        <p:nvSpPr>
          <p:cNvPr id="14" name="Shape 12"/>
          <p:cNvSpPr/>
          <p:nvPr/>
        </p:nvSpPr>
        <p:spPr>
          <a:xfrm>
            <a:off x="6492240" y="4343400"/>
            <a:ext cx="62179" cy="237744"/>
          </a:xfrm>
          <a:prstGeom prst="rect">
            <a:avLst/>
          </a:prstGeom>
          <a:solidFill>
            <a:srgbClr val="E8384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0" y="4617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0.16%（全城充电）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823960" y="46177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8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9–11%（电网出事阈值）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40233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D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占电网峰值的比例 →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价值与意义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349240" cy="1600200"/>
          </a:xfrm>
          <a:prstGeom prst="roundRect">
            <a:avLst>
              <a:gd name="adj" fmla="val 5143"/>
            </a:avLst>
          </a:prstGeom>
          <a:solidFill>
            <a:srgbClr val="12405B"/>
          </a:solidFill>
          <a:ln w="12700">
            <a:solidFill>
              <a:srgbClr val="24617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572768"/>
            <a:ext cx="1417320" cy="411480"/>
          </a:xfrm>
          <a:prstGeom prst="roundRect">
            <a:avLst>
              <a:gd name="adj" fmla="val 48889"/>
            </a:avLst>
          </a:prstGeom>
          <a:solidFill>
            <a:srgbClr val="1AA3C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57276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3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填补空白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29968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DC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第一次用一座真城市的真数据+真协议，把抽象的“控制了电网x%”拆成可核查的网络层问题。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371600"/>
            <a:ext cx="5349240" cy="1600200"/>
          </a:xfrm>
          <a:prstGeom prst="roundRect">
            <a:avLst>
              <a:gd name="adj" fmla="val 5143"/>
            </a:avLst>
          </a:prstGeom>
          <a:solidFill>
            <a:srgbClr val="12405B"/>
          </a:solidFill>
          <a:ln w="12700">
            <a:solidFill>
              <a:srgbClr val="24617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1572768"/>
            <a:ext cx="1417320" cy="411480"/>
          </a:xfrm>
          <a:prstGeom prst="roundRect">
            <a:avLst>
              <a:gd name="adj" fmla="val 48889"/>
            </a:avLst>
          </a:prstGeom>
          <a:solidFill>
            <a:srgbClr val="1EA97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0" y="157276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3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现实指导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2029968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DC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真正该防的是网络层后台通道，不是电网；城市“多家分散”本身就是安全资产，别盲目追求统一大平台。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154680"/>
            <a:ext cx="5349240" cy="1600200"/>
          </a:xfrm>
          <a:prstGeom prst="roundRect">
            <a:avLst>
              <a:gd name="adj" fmla="val 5143"/>
            </a:avLst>
          </a:prstGeom>
          <a:solidFill>
            <a:srgbClr val="12405B"/>
          </a:solidFill>
          <a:ln w="12700">
            <a:solidFill>
              <a:srgbClr val="24617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355848"/>
            <a:ext cx="1417320" cy="411480"/>
          </a:xfrm>
          <a:prstGeom prst="roundRect">
            <a:avLst>
              <a:gd name="adj" fmla="val 48889"/>
            </a:avLst>
          </a:prstGeom>
          <a:solidFill>
            <a:srgbClr val="F08A2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335584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3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可移植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3813048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DC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欧盟每座城市都有同样的登记表，这套“一家标定、全城推演”直接能用。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0" y="3154680"/>
            <a:ext cx="5349240" cy="1600200"/>
          </a:xfrm>
          <a:prstGeom prst="roundRect">
            <a:avLst>
              <a:gd name="adj" fmla="val 5143"/>
            </a:avLst>
          </a:prstGeom>
          <a:solidFill>
            <a:srgbClr val="12405B"/>
          </a:solidFill>
          <a:ln w="12700">
            <a:solidFill>
              <a:srgbClr val="24617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3355848"/>
            <a:ext cx="1417320" cy="411480"/>
          </a:xfrm>
          <a:prstGeom prst="roundRect">
            <a:avLst>
              <a:gd name="adj" fmla="val 48889"/>
            </a:avLst>
          </a:prstGeom>
          <a:solidFill>
            <a:srgbClr val="8B4DD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0" y="335584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3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可视化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3813048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DC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所有结论能在真实地图上按时间、按运营商回放，还有交互式指挥台，非专业人也能看懂。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5120640"/>
            <a:ext cx="10927080" cy="1143000"/>
          </a:xfrm>
          <a:prstGeom prst="roundRect">
            <a:avLst>
              <a:gd name="adj" fmla="val 8000"/>
            </a:avLst>
          </a:prstGeom>
          <a:solidFill>
            <a:srgbClr val="0A2E43"/>
          </a:solidFill>
          <a:ln w="16510">
            <a:solidFill>
              <a:srgbClr val="1AA3C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4400" y="5120640"/>
            <a:ext cx="10424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7F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一句话结论：</a:t>
            </a:r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它威胁不到电网，真正的战场在网络层；城市的碎片化 + 检测后立刻隔离，让这类攻击几乎打不出实际损失。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Vsec">
  <a:themeElements>
    <a:clrScheme name="EVsec">
      <a:dk1>
        <a:srgbClr val="1A2633"/>
      </a:dk1>
      <a:lt1>
        <a:srgbClr val="FFFFFF"/>
      </a:lt1>
      <a:dk2>
        <a:srgbClr val="0F3D57"/>
      </a:dk2>
      <a:lt2>
        <a:srgbClr val="F4F7FB"/>
      </a:lt2>
      <a:accent1>
        <a:srgbClr val="1AA3C4"/>
      </a:accent1>
      <a:accent2>
        <a:srgbClr val="E8384F"/>
      </a:accent2>
      <a:accent3>
        <a:srgbClr val="1EA97C"/>
      </a:accent3>
      <a:accent4>
        <a:srgbClr val="8B4DDB"/>
      </a:accent4>
      <a:accent5>
        <a:srgbClr val="F08A24"/>
      </a:accent5>
      <a:accent6>
        <a:srgbClr val="5D6B7A"/>
      </a:accent6>
      <a:hlink>
        <a:srgbClr val="1AA3C4"/>
      </a:hlink>
      <a:folHlink>
        <a:srgbClr val="8B4DDB"/>
      </a:folHlink>
    </a:clrScheme>
    <a:fontScheme name="EVsec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2026-10-18T21:27:21Z</dcterms:created>
  <dcterms:modified xsi:type="dcterms:W3CDTF">2026-10-18T21:27:21Z</dcterms:modified>
</cp:coreProperties>
</file>